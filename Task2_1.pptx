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86" r:id="rId5"/>
  </p:sldMasterIdLst>
  <p:notesMasterIdLst>
    <p:notesMasterId r:id="rId22"/>
  </p:notesMasterIdLst>
  <p:sldIdLst>
    <p:sldId id="292" r:id="rId6"/>
    <p:sldId id="412" r:id="rId7"/>
    <p:sldId id="425" r:id="rId8"/>
    <p:sldId id="424" r:id="rId9"/>
    <p:sldId id="426" r:id="rId10"/>
    <p:sldId id="427" r:id="rId11"/>
    <p:sldId id="428" r:id="rId12"/>
    <p:sldId id="430" r:id="rId13"/>
    <p:sldId id="431" r:id="rId14"/>
    <p:sldId id="432" r:id="rId15"/>
    <p:sldId id="429" r:id="rId16"/>
    <p:sldId id="433" r:id="rId17"/>
    <p:sldId id="434" r:id="rId18"/>
    <p:sldId id="435" r:id="rId19"/>
    <p:sldId id="436" r:id="rId20"/>
    <p:sldId id="406" r:id="rId21"/>
  </p:sldIdLst>
  <p:sldSz cx="18288000" cy="10287000"/>
  <p:notesSz cx="6858000" cy="9144000"/>
  <p:embeddedFontLst>
    <p:embeddedFont>
      <p:font typeface="Microsoft Sans Serif" panose="020B0604020202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2" autoAdjust="0"/>
    <p:restoredTop sz="91525" autoAdjust="0"/>
  </p:normalViewPr>
  <p:slideViewPr>
    <p:cSldViewPr>
      <p:cViewPr varScale="1">
        <p:scale>
          <a:sx n="66" d="100"/>
          <a:sy n="66" d="100"/>
        </p:scale>
        <p:origin x="106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FD0A-FE2C-46EB-8177-9AF94D7ECF8D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52AE-1133-4F73-BBBB-3885EE747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8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E1FCE-83C8-4B59-AA4D-5DEA2FE13E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1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75400-E75D-C553-E27B-FBB8104E3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A8A0B-302C-FF98-FD29-1291E70F8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68B71-1F5D-7BA3-CBC3-4C7109A33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73CF9-830F-1568-3C24-30ADF619D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E1FCE-83C8-4B59-AA4D-5DEA2FE13E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1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73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1558" y="478964"/>
            <a:ext cx="7164884" cy="467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4847973"/>
            <a:ext cx="12801600" cy="311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26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18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8200" y="1592018"/>
            <a:ext cx="8018145" cy="311752"/>
          </a:xfrm>
        </p:spPr>
        <p:txBody>
          <a:bodyPr lIns="0" tIns="0" rIns="0" bIns="0"/>
          <a:lstStyle>
            <a:lvl1pPr>
              <a:defRPr sz="2026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174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1" y="1991133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19" y="1991133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215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26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268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A3E7A03E-3088-EAC1-A3FA-545EEC0DAD67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952080" y="-4090320"/>
            <a:ext cx="10365840" cy="18475200"/>
            <a:chOff x="0" y="0"/>
            <a:chExt cx="13821120" cy="246336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2E2994E-3F9A-8910-A665-ED7E3A7B95D8}"/>
                </a:ext>
              </a:extLst>
            </p:cNvPr>
            <p:cNvSpPr/>
            <p:nvPr/>
          </p:nvSpPr>
          <p:spPr>
            <a:xfrm>
              <a:off x="0" y="0"/>
              <a:ext cx="13821156" cy="24633555"/>
            </a:xfrm>
            <a:custGeom>
              <a:avLst/>
              <a:gdLst/>
              <a:ahLst/>
              <a:cxnLst/>
              <a:rect l="l" t="t" r="r" b="b"/>
              <a:pathLst>
                <a:path w="13821156" h="24633555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873" t="-1350" r="-225516" b="-3533"/>
              </a:stretch>
            </a:blip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7ACEEF43-C46A-29F3-B304-1FF7DBB78922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4410367" y="-4041361"/>
            <a:ext cx="10275840" cy="18287280"/>
            <a:chOff x="0" y="0"/>
            <a:chExt cx="13701120" cy="2438304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FD59E4-F1B0-DA3E-456F-060661799F98}"/>
                </a:ext>
              </a:extLst>
            </p:cNvPr>
            <p:cNvSpPr/>
            <p:nvPr/>
          </p:nvSpPr>
          <p:spPr>
            <a:xfrm>
              <a:off x="0" y="0"/>
              <a:ext cx="13701140" cy="24382985"/>
            </a:xfrm>
            <a:custGeom>
              <a:avLst/>
              <a:gdLst/>
              <a:ahLst/>
              <a:cxnLst/>
              <a:rect l="l" t="t" r="r" b="b"/>
              <a:pathLst>
                <a:path w="13701140" h="24382985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50000"/>
              </a:blip>
              <a:stretch>
                <a:fillRect l="-16966" t="-3901" r="-46200" b="52337"/>
              </a:stretch>
            </a:blip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8200" y="1592018"/>
            <a:ext cx="801814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8051097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1" y="8051097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59" y="8051097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3C8A7296-5216-7841-2C54-19817BE343F6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952080" y="-4090320"/>
            <a:ext cx="10365840" cy="18475200"/>
            <a:chOff x="0" y="0"/>
            <a:chExt cx="13821120" cy="246336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D040302-4E46-68AA-4A2D-AC239287434F}"/>
                </a:ext>
              </a:extLst>
            </p:cNvPr>
            <p:cNvSpPr/>
            <p:nvPr/>
          </p:nvSpPr>
          <p:spPr>
            <a:xfrm>
              <a:off x="0" y="0"/>
              <a:ext cx="13821156" cy="24633555"/>
            </a:xfrm>
            <a:custGeom>
              <a:avLst/>
              <a:gdLst/>
              <a:ahLst/>
              <a:cxnLst/>
              <a:rect l="l" t="t" r="r" b="b"/>
              <a:pathLst>
                <a:path w="13821156" h="24633555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873" t="-1350" r="-225516" b="-3533"/>
              </a:stretch>
            </a:blipFill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DC361283-B4A7-5104-ECDB-3AB048127D8A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4410367" y="-4041361"/>
            <a:ext cx="10275840" cy="18287280"/>
            <a:chOff x="0" y="0"/>
            <a:chExt cx="13701120" cy="2438304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F277D9C-9246-458C-B958-529DBC6B613E}"/>
                </a:ext>
              </a:extLst>
            </p:cNvPr>
            <p:cNvSpPr/>
            <p:nvPr/>
          </p:nvSpPr>
          <p:spPr>
            <a:xfrm>
              <a:off x="0" y="0"/>
              <a:ext cx="13701140" cy="24382985"/>
            </a:xfrm>
            <a:custGeom>
              <a:avLst/>
              <a:gdLst/>
              <a:ahLst/>
              <a:cxnLst/>
              <a:rect l="l" t="t" r="r" b="b"/>
              <a:pathLst>
                <a:path w="13701140" h="24382985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6966" t="-3901" r="-46200" b="52337"/>
              </a:stretch>
            </a:blipFill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256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14716">
        <a:defRPr>
          <a:latin typeface="+mn-lt"/>
          <a:ea typeface="+mn-ea"/>
          <a:cs typeface="+mn-cs"/>
        </a:defRPr>
      </a:lvl2pPr>
      <a:lvl3pPr marL="1029432">
        <a:defRPr>
          <a:latin typeface="+mn-lt"/>
          <a:ea typeface="+mn-ea"/>
          <a:cs typeface="+mn-cs"/>
        </a:defRPr>
      </a:lvl3pPr>
      <a:lvl4pPr marL="1544147">
        <a:defRPr>
          <a:latin typeface="+mn-lt"/>
          <a:ea typeface="+mn-ea"/>
          <a:cs typeface="+mn-cs"/>
        </a:defRPr>
      </a:lvl4pPr>
      <a:lvl5pPr marL="2058863">
        <a:defRPr>
          <a:latin typeface="+mn-lt"/>
          <a:ea typeface="+mn-ea"/>
          <a:cs typeface="+mn-cs"/>
        </a:defRPr>
      </a:lvl5pPr>
      <a:lvl6pPr marL="2573579">
        <a:defRPr>
          <a:latin typeface="+mn-lt"/>
          <a:ea typeface="+mn-ea"/>
          <a:cs typeface="+mn-cs"/>
        </a:defRPr>
      </a:lvl6pPr>
      <a:lvl7pPr marL="3088295">
        <a:defRPr>
          <a:latin typeface="+mn-lt"/>
          <a:ea typeface="+mn-ea"/>
          <a:cs typeface="+mn-cs"/>
        </a:defRPr>
      </a:lvl7pPr>
      <a:lvl8pPr marL="3603010">
        <a:defRPr>
          <a:latin typeface="+mn-lt"/>
          <a:ea typeface="+mn-ea"/>
          <a:cs typeface="+mn-cs"/>
        </a:defRPr>
      </a:lvl8pPr>
      <a:lvl9pPr marL="411772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14716">
        <a:defRPr>
          <a:latin typeface="+mn-lt"/>
          <a:ea typeface="+mn-ea"/>
          <a:cs typeface="+mn-cs"/>
        </a:defRPr>
      </a:lvl2pPr>
      <a:lvl3pPr marL="1029432">
        <a:defRPr>
          <a:latin typeface="+mn-lt"/>
          <a:ea typeface="+mn-ea"/>
          <a:cs typeface="+mn-cs"/>
        </a:defRPr>
      </a:lvl3pPr>
      <a:lvl4pPr marL="1544147">
        <a:defRPr>
          <a:latin typeface="+mn-lt"/>
          <a:ea typeface="+mn-ea"/>
          <a:cs typeface="+mn-cs"/>
        </a:defRPr>
      </a:lvl4pPr>
      <a:lvl5pPr marL="2058863">
        <a:defRPr>
          <a:latin typeface="+mn-lt"/>
          <a:ea typeface="+mn-ea"/>
          <a:cs typeface="+mn-cs"/>
        </a:defRPr>
      </a:lvl5pPr>
      <a:lvl6pPr marL="2573579">
        <a:defRPr>
          <a:latin typeface="+mn-lt"/>
          <a:ea typeface="+mn-ea"/>
          <a:cs typeface="+mn-cs"/>
        </a:defRPr>
      </a:lvl6pPr>
      <a:lvl7pPr marL="3088295">
        <a:defRPr>
          <a:latin typeface="+mn-lt"/>
          <a:ea typeface="+mn-ea"/>
          <a:cs typeface="+mn-cs"/>
        </a:defRPr>
      </a:lvl7pPr>
      <a:lvl8pPr marL="3603010">
        <a:defRPr>
          <a:latin typeface="+mn-lt"/>
          <a:ea typeface="+mn-ea"/>
          <a:cs typeface="+mn-cs"/>
        </a:defRPr>
      </a:lvl8pPr>
      <a:lvl9pPr marL="411772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257550"/>
          <a:chOff x="914400" y="1543050"/>
          <a:chExt cx="8229600" cy="3257550"/>
        </a:xfrm>
      </p:grpSpPr>
      <p:sp>
        <p:nvSpPr>
          <p:cNvPr id="2" name="TextBox 1"/>
          <p:cNvSpPr txBox="1"/>
          <p:nvPr/>
        </p:nvSpPr>
        <p:spPr>
          <a:xfrm>
            <a:off x="6010275" y="8267700"/>
            <a:ext cx="6267450" cy="1169551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3200" b="1" dirty="0">
                <a:solidFill>
                  <a:schemeClr val="bg1"/>
                </a:solidFill>
                <a:latin typeface="Arial"/>
              </a:rPr>
              <a:t>Mohamed Ayman</a:t>
            </a:r>
          </a:p>
          <a:p>
            <a:pPr algn="ctr" fontAlgn="t"/>
            <a:r>
              <a:rPr lang="en-US" sz="3200" b="1" dirty="0">
                <a:solidFill>
                  <a:schemeClr val="bg1"/>
                </a:solidFill>
                <a:latin typeface="Arial"/>
              </a:rPr>
              <a:t>Aya 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1A41DF-D578-6EB1-3C77-EF16A69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4610100"/>
            <a:ext cx="13487400" cy="1846660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EDA on Taxi data</a:t>
            </a:r>
            <a:br>
              <a:rPr lang="en-US" sz="7200" dirty="0"/>
            </a:br>
            <a:r>
              <a:rPr lang="en-US" sz="4900" dirty="0"/>
              <a:t>Machine Learning Regression Project</a:t>
            </a:r>
            <a:br>
              <a:rPr lang="en-US" sz="7200" dirty="0"/>
            </a:br>
            <a:br>
              <a:rPr lang="en-US" sz="7200" b="1" dirty="0">
                <a:latin typeface="Arial"/>
                <a:ea typeface="+mn-ea"/>
                <a:cs typeface="+mn-cs"/>
              </a:rPr>
            </a:br>
            <a:endParaRPr lang="en-US" sz="7200" b="1" dirty="0"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32A0-BF75-C3EE-0F6D-0FB4C4117495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63432-6265-0E8C-3E1C-00DA47019244}"/>
              </a:ext>
            </a:extLst>
          </p:cNvPr>
          <p:cNvSpPr txBox="1"/>
          <p:nvPr/>
        </p:nvSpPr>
        <p:spPr>
          <a:xfrm>
            <a:off x="732868" y="510896"/>
            <a:ext cx="8563532" cy="1107996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b="1" dirty="0">
                <a:solidFill>
                  <a:schemeClr val="bg1"/>
                </a:solidFill>
              </a:rPr>
              <a:t>1. Data Overview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95276-E018-335A-CA9D-5D2AE4D070B5}"/>
              </a:ext>
            </a:extLst>
          </p:cNvPr>
          <p:cNvSpPr txBox="1"/>
          <p:nvPr/>
        </p:nvSpPr>
        <p:spPr>
          <a:xfrm>
            <a:off x="732868" y="1773913"/>
            <a:ext cx="9325532" cy="7448193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In our data we notice we have 500,000 entries and 26 features.</a:t>
            </a:r>
          </a:p>
          <a:p>
            <a:r>
              <a:rPr lang="en-US" sz="3600" dirty="0">
                <a:solidFill>
                  <a:schemeClr val="bg1"/>
                </a:solidFill>
              </a:rPr>
              <a:t>	Contains :</a:t>
            </a:r>
          </a:p>
          <a:p>
            <a:pPr lvl="2"/>
            <a:r>
              <a:rPr lang="en-US" sz="3600" dirty="0">
                <a:solidFill>
                  <a:schemeClr val="bg1"/>
                </a:solidFill>
              </a:rPr>
              <a:t>	- 8 Object features</a:t>
            </a:r>
          </a:p>
          <a:p>
            <a:pPr lvl="2"/>
            <a:r>
              <a:rPr lang="en-US" sz="3600" dirty="0">
                <a:solidFill>
                  <a:schemeClr val="bg1"/>
                </a:solidFill>
              </a:rPr>
              <a:t>	- 18 Numerical features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We notice there are many outliers and </a:t>
            </a:r>
          </a:p>
          <a:p>
            <a:r>
              <a:rPr lang="en-US" sz="3600" dirty="0">
                <a:solidFill>
                  <a:schemeClr val="bg1"/>
                </a:solidFill>
              </a:rPr>
              <a:t>     Non-reasonable values in some features.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And there are Null values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No Duplicated values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7FB7B-54E2-C57A-B83B-D74363EE6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66700"/>
            <a:ext cx="5210732" cy="5033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C0267F-4833-C37F-7BC8-1A7343C48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5604927"/>
            <a:ext cx="7260770" cy="43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7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F38B-9E51-7239-2864-315802C15016}"/>
            </a:ext>
          </a:extLst>
        </p:cNvPr>
        <p:cNvGrpSpPr/>
        <p:nvPr/>
      </p:nvGrpSpPr>
      <p:grpSpPr>
        <a:xfrm>
          <a:off x="914400" y="1543050"/>
          <a:ext cx="8229600" cy="3257550"/>
          <a:chOff x="914400" y="1543050"/>
          <a:chExt cx="8229600" cy="325755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142A97-F2D3-28E9-40A2-1AE9BDE1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3467100"/>
            <a:ext cx="13487400" cy="3810000"/>
          </a:xfrm>
        </p:spPr>
        <p:txBody>
          <a:bodyPr>
            <a:normAutofit fontScale="90000"/>
          </a:bodyPr>
          <a:lstStyle/>
          <a:p>
            <a:r>
              <a:rPr lang="en-US" sz="9600" b="1" dirty="0"/>
              <a:t>Data Distribution</a:t>
            </a:r>
            <a:br>
              <a:rPr lang="en-US" sz="9600" b="1" dirty="0"/>
            </a:br>
            <a:r>
              <a:rPr lang="en-US" sz="9600" b="1" dirty="0"/>
              <a:t>&amp;</a:t>
            </a:r>
            <a:br>
              <a:rPr lang="en-US" sz="9600" b="1" dirty="0"/>
            </a:br>
            <a:r>
              <a:rPr lang="en-US" sz="9600" b="1" dirty="0"/>
              <a:t>features Relation</a:t>
            </a:r>
            <a:endParaRPr lang="en-US" sz="9600" b="1" dirty="0"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21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2679-87CC-E523-609D-9E1B18DD6C04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52F86-6A6B-CFB8-0004-80A7E5063195}"/>
              </a:ext>
            </a:extLst>
          </p:cNvPr>
          <p:cNvSpPr txBox="1"/>
          <p:nvPr/>
        </p:nvSpPr>
        <p:spPr>
          <a:xfrm>
            <a:off x="732868" y="643057"/>
            <a:ext cx="8182532" cy="1107996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b="1" dirty="0">
                <a:solidFill>
                  <a:schemeClr val="bg1"/>
                </a:solidFill>
              </a:rPr>
              <a:t>2. Data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AD7EB-5009-5510-D18A-4E22E3314C7E}"/>
              </a:ext>
            </a:extLst>
          </p:cNvPr>
          <p:cNvSpPr txBox="1"/>
          <p:nvPr/>
        </p:nvSpPr>
        <p:spPr>
          <a:xfrm>
            <a:off x="732868" y="1751053"/>
            <a:ext cx="11382932" cy="6340197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Fare Amount:</a:t>
            </a:r>
          </a:p>
          <a:p>
            <a:r>
              <a:rPr lang="en-US" sz="4000" dirty="0">
                <a:solidFill>
                  <a:schemeClr val="bg1"/>
                </a:solidFill>
              </a:rPr>
              <a:t>	- we notice there are Non-reasonable</a:t>
            </a:r>
          </a:p>
          <a:p>
            <a:r>
              <a:rPr lang="en-US" sz="4000" dirty="0">
                <a:solidFill>
                  <a:schemeClr val="bg1"/>
                </a:solidFill>
              </a:rPr>
              <a:t>	  values  in the plot 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	- we see negative and zero values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	- we notice there are:</a:t>
            </a:r>
          </a:p>
          <a:p>
            <a:r>
              <a:rPr lang="en-US" sz="4000" dirty="0">
                <a:solidFill>
                  <a:schemeClr val="bg1"/>
                </a:solidFill>
              </a:rPr>
              <a:t>		- 21 Negative fares</a:t>
            </a:r>
          </a:p>
          <a:p>
            <a:r>
              <a:rPr lang="en-US" sz="4000" dirty="0">
                <a:solidFill>
                  <a:schemeClr val="bg1"/>
                </a:solidFill>
              </a:rPr>
              <a:t>		- 14 Zero fares</a:t>
            </a:r>
          </a:p>
          <a:p>
            <a:r>
              <a:rPr lang="en-US" sz="4000" dirty="0">
                <a:solidFill>
                  <a:schemeClr val="bg1"/>
                </a:solidFill>
              </a:rPr>
              <a:t>		- 26 records bigger than 200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04366-1591-046E-647F-7876FA799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1" y="770386"/>
            <a:ext cx="5181600" cy="4277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4AA32A-4B93-6919-5E8A-D782FEFB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1" y="5676900"/>
            <a:ext cx="5181600" cy="383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9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5AF5A-E600-0E96-6279-4FDBB55F5521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08DAC1-913B-9434-A5D8-2327860ACC53}"/>
              </a:ext>
            </a:extLst>
          </p:cNvPr>
          <p:cNvSpPr txBox="1"/>
          <p:nvPr/>
        </p:nvSpPr>
        <p:spPr>
          <a:xfrm>
            <a:off x="732868" y="643057"/>
            <a:ext cx="7496732" cy="1107996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b="1" dirty="0">
                <a:solidFill>
                  <a:schemeClr val="bg1"/>
                </a:solidFill>
              </a:rPr>
              <a:t>2. Data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D6724-F014-62CC-B559-11EE19214BAF}"/>
              </a:ext>
            </a:extLst>
          </p:cNvPr>
          <p:cNvSpPr txBox="1"/>
          <p:nvPr/>
        </p:nvSpPr>
        <p:spPr>
          <a:xfrm>
            <a:off x="732868" y="1751053"/>
            <a:ext cx="11382932" cy="5724644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Distance:</a:t>
            </a:r>
          </a:p>
          <a:p>
            <a:r>
              <a:rPr lang="en-US" sz="4000" dirty="0">
                <a:solidFill>
                  <a:schemeClr val="bg1"/>
                </a:solidFill>
              </a:rPr>
              <a:t>	- we notice there are Non-reasonable</a:t>
            </a:r>
          </a:p>
          <a:p>
            <a:r>
              <a:rPr lang="en-US" sz="4000" dirty="0">
                <a:solidFill>
                  <a:schemeClr val="bg1"/>
                </a:solidFill>
              </a:rPr>
              <a:t>	  values   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	- we see zero values 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	- we can see that the most records in the </a:t>
            </a:r>
          </a:p>
          <a:p>
            <a:r>
              <a:rPr lang="en-US" sz="4000" dirty="0">
                <a:solidFill>
                  <a:schemeClr val="bg1"/>
                </a:solidFill>
              </a:rPr>
              <a:t>	  don’t travel in large distance and its</a:t>
            </a:r>
          </a:p>
          <a:p>
            <a:r>
              <a:rPr lang="en-US" sz="4000" dirty="0">
                <a:solidFill>
                  <a:schemeClr val="bg1"/>
                </a:solidFill>
              </a:rPr>
              <a:t>	 near the Pickup 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E2147-8390-D04C-5DF8-C5FE15FCB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9" y="1303785"/>
            <a:ext cx="5181601" cy="3839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DE591A-9057-EE9B-52A6-9DA2C2F5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29" y="5590768"/>
            <a:ext cx="5210630" cy="383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2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2684-8043-24F2-F994-08CB85211A88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C117CC-1E01-EADA-D374-A009A085A0C7}"/>
              </a:ext>
            </a:extLst>
          </p:cNvPr>
          <p:cNvSpPr txBox="1"/>
          <p:nvPr/>
        </p:nvSpPr>
        <p:spPr>
          <a:xfrm>
            <a:off x="696582" y="630357"/>
            <a:ext cx="7152018" cy="1107996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b="1" dirty="0">
                <a:solidFill>
                  <a:schemeClr val="bg1"/>
                </a:solidFill>
              </a:rPr>
              <a:t>2. Data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0EBE6-9AF4-3DFC-0BA0-6FEFBED4881A}"/>
              </a:ext>
            </a:extLst>
          </p:cNvPr>
          <p:cNvSpPr txBox="1"/>
          <p:nvPr/>
        </p:nvSpPr>
        <p:spPr>
          <a:xfrm>
            <a:off x="696582" y="1738353"/>
            <a:ext cx="4296332" cy="800219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Time: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1A210-13DF-5F81-7987-61020ABD9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68" y="3009900"/>
            <a:ext cx="8563532" cy="571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2D4287-2370-7E5D-0BE4-ECC5256446F7}"/>
              </a:ext>
            </a:extLst>
          </p:cNvPr>
          <p:cNvSpPr txBox="1"/>
          <p:nvPr/>
        </p:nvSpPr>
        <p:spPr>
          <a:xfrm>
            <a:off x="11811000" y="1751053"/>
            <a:ext cx="5562600" cy="800219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Passenger Count: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D08E63-5F81-48F7-D2E9-0CDE9B946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3009900"/>
            <a:ext cx="67818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50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E15F-960C-ACA3-F032-9BA3627E73F3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6CB39-D008-90AB-2C09-5E6DAF9CC04D}"/>
              </a:ext>
            </a:extLst>
          </p:cNvPr>
          <p:cNvSpPr txBox="1"/>
          <p:nvPr/>
        </p:nvSpPr>
        <p:spPr>
          <a:xfrm>
            <a:off x="732868" y="643057"/>
            <a:ext cx="7344332" cy="1107996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b="1" dirty="0">
                <a:solidFill>
                  <a:schemeClr val="bg1"/>
                </a:solidFill>
              </a:rPr>
              <a:t>2. Data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ADD05-47E0-029C-0991-F5B2F4213ED4}"/>
              </a:ext>
            </a:extLst>
          </p:cNvPr>
          <p:cNvSpPr txBox="1"/>
          <p:nvPr/>
        </p:nvSpPr>
        <p:spPr>
          <a:xfrm>
            <a:off x="914400" y="4435614"/>
            <a:ext cx="4296332" cy="1415772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Outliers Detection</a:t>
            </a:r>
          </a:p>
          <a:p>
            <a:r>
              <a:rPr lang="en-US" sz="4000" dirty="0">
                <a:solidFill>
                  <a:schemeClr val="bg1"/>
                </a:solidFill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D41B6-9EA5-E3CD-CDBB-3C458371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43100"/>
            <a:ext cx="11506200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6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00544D-021B-0E9A-C7D9-FEC23903792F}"/>
              </a:ext>
            </a:extLst>
          </p:cNvPr>
          <p:cNvSpPr txBox="1"/>
          <p:nvPr/>
        </p:nvSpPr>
        <p:spPr>
          <a:xfrm>
            <a:off x="457200" y="859422"/>
            <a:ext cx="5105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Car Condition: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B0A6B-A976-364A-B394-D60B6422C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03" y="2095500"/>
            <a:ext cx="5412698" cy="42077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BE783E-A213-0A9B-A8F0-C7ADAB61FA66}"/>
              </a:ext>
            </a:extLst>
          </p:cNvPr>
          <p:cNvSpPr txBox="1"/>
          <p:nvPr/>
        </p:nvSpPr>
        <p:spPr>
          <a:xfrm>
            <a:off x="6465289" y="859422"/>
            <a:ext cx="304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Weather:</a:t>
            </a:r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3C24CA-B647-7EDF-D327-55983DBCB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814" y="2095499"/>
            <a:ext cx="5630229" cy="4207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C13E8C-7EC7-DC63-36CE-0491238B7C29}"/>
              </a:ext>
            </a:extLst>
          </p:cNvPr>
          <p:cNvSpPr txBox="1"/>
          <p:nvPr/>
        </p:nvSpPr>
        <p:spPr>
          <a:xfrm>
            <a:off x="12573000" y="859422"/>
            <a:ext cx="3886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Traffic Condition:</a:t>
            </a:r>
            <a:endParaRPr lang="en-US" sz="4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D6B582-652C-2BCA-418B-E5D0F0673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7260" y="2095499"/>
            <a:ext cx="5022725" cy="42077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4E98B89-2D5F-8F67-0A72-DA5269FC58FC}"/>
              </a:ext>
            </a:extLst>
          </p:cNvPr>
          <p:cNvSpPr txBox="1"/>
          <p:nvPr/>
        </p:nvSpPr>
        <p:spPr>
          <a:xfrm>
            <a:off x="458449" y="7353301"/>
            <a:ext cx="144005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After cleaning, each category has roughly the same number of observations, making it a </a:t>
            </a:r>
            <a:r>
              <a:rPr lang="en-US" sz="4000" b="1" dirty="0">
                <a:solidFill>
                  <a:schemeClr val="bg1"/>
                </a:solidFill>
              </a:rPr>
              <a:t>balanced dataset.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28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2432E6-6FBC-FD71-FFF9-FBC383131892}"/>
              </a:ext>
            </a:extLst>
          </p:cNvPr>
          <p:cNvSpPr txBox="1"/>
          <p:nvPr/>
        </p:nvSpPr>
        <p:spPr>
          <a:xfrm>
            <a:off x="457200" y="266700"/>
            <a:ext cx="9296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6000" b="1" dirty="0">
                <a:solidFill>
                  <a:schemeClr val="bg1"/>
                </a:solidFill>
              </a:rPr>
              <a:t>3. </a:t>
            </a:r>
            <a:r>
              <a:rPr lang="en-US" sz="6000" dirty="0">
                <a:solidFill>
                  <a:schemeClr val="bg1"/>
                </a:solidFill>
              </a:rPr>
              <a:t>Correlation Heatmap</a:t>
            </a:r>
          </a:p>
          <a:p>
            <a:pPr fontAlgn="t"/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F0BA9-78A4-3710-C31D-1B518C79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267248"/>
            <a:ext cx="10651761" cy="73720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2F2113-8748-0277-6E49-A52385843B1A}"/>
              </a:ext>
            </a:extLst>
          </p:cNvPr>
          <p:cNvSpPr txBox="1"/>
          <p:nvPr/>
        </p:nvSpPr>
        <p:spPr>
          <a:xfrm>
            <a:off x="473439" y="1559362"/>
            <a:ext cx="4038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Before cleaning: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6670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6958BA-86FF-5A1D-185D-ACE0291FE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62100"/>
            <a:ext cx="9182724" cy="7446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9D7B9E-65F6-513F-9C8C-3059E2869B36}"/>
              </a:ext>
            </a:extLst>
          </p:cNvPr>
          <p:cNvSpPr txBox="1"/>
          <p:nvPr/>
        </p:nvSpPr>
        <p:spPr>
          <a:xfrm>
            <a:off x="10210800" y="3619500"/>
            <a:ext cx="822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Distance and Fare amount show a strong positive correlation (r = 0.84), confirming that fare increases with distance.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93400-B50E-FFB6-8B0A-89A79B73D7D8}"/>
              </a:ext>
            </a:extLst>
          </p:cNvPr>
          <p:cNvSpPr txBox="1"/>
          <p:nvPr/>
        </p:nvSpPr>
        <p:spPr>
          <a:xfrm>
            <a:off x="762000" y="419100"/>
            <a:ext cx="9403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After cleaning: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1391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FC0AE1-E0A2-F7CC-90EB-B1C6BD254530}"/>
              </a:ext>
            </a:extLst>
          </p:cNvPr>
          <p:cNvSpPr txBox="1"/>
          <p:nvPr/>
        </p:nvSpPr>
        <p:spPr>
          <a:xfrm>
            <a:off x="620841" y="876300"/>
            <a:ext cx="70753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Distance vs Fare amount before Cleaning: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ABC34-F431-3BC0-5662-1C9E39884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41" y="3590270"/>
            <a:ext cx="6619875" cy="5191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983D54-3E6B-B730-00B1-E17262FBC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029" y="3581199"/>
            <a:ext cx="6905625" cy="5191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B4C5B4-B894-81CD-22F1-2CE1841DCFF2}"/>
              </a:ext>
            </a:extLst>
          </p:cNvPr>
          <p:cNvSpPr txBox="1"/>
          <p:nvPr/>
        </p:nvSpPr>
        <p:spPr>
          <a:xfrm>
            <a:off x="9765295" y="647700"/>
            <a:ext cx="70753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Passenger Count vs Fare amount before Cleaning: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93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F0109-892A-40C7-279A-48B7F623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F898F-74E8-C58B-2194-D3B7071B767A}"/>
              </a:ext>
            </a:extLst>
          </p:cNvPr>
          <p:cNvSpPr txBox="1"/>
          <p:nvPr/>
        </p:nvSpPr>
        <p:spPr>
          <a:xfrm>
            <a:off x="620841" y="876300"/>
            <a:ext cx="70753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Distance vs Fare amount before Cleaning: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26476-B874-7AA4-2551-29A3EDBE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41" y="3590270"/>
            <a:ext cx="6619875" cy="5191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4354E4-B513-E1D6-D838-6764F7F2D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029" y="3581199"/>
            <a:ext cx="6905625" cy="5191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437A44-E0DA-122F-BDE5-658D045C1600}"/>
              </a:ext>
            </a:extLst>
          </p:cNvPr>
          <p:cNvSpPr txBox="1"/>
          <p:nvPr/>
        </p:nvSpPr>
        <p:spPr>
          <a:xfrm>
            <a:off x="9765295" y="647700"/>
            <a:ext cx="70753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Passenger Count vs Fare amount before Cleaning: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66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0B93-0C37-2836-7CE5-2B8755D1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0FA30B-3714-0B26-9347-FB3CF9C93863}"/>
              </a:ext>
            </a:extLst>
          </p:cNvPr>
          <p:cNvSpPr txBox="1"/>
          <p:nvPr/>
        </p:nvSpPr>
        <p:spPr>
          <a:xfrm>
            <a:off x="620841" y="876300"/>
            <a:ext cx="85231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Categorical features vs fare amount: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3EB85-BFD8-65F4-ECC3-94092F1AD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009900"/>
            <a:ext cx="15621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6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0AEF-4F6A-8CF4-8D5A-2FEE4487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5B5D4E-A061-6EFB-EDBD-1F9227EBD462}"/>
              </a:ext>
            </a:extLst>
          </p:cNvPr>
          <p:cNvSpPr txBox="1"/>
          <p:nvPr/>
        </p:nvSpPr>
        <p:spPr>
          <a:xfrm>
            <a:off x="642030" y="800100"/>
            <a:ext cx="85231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Time vs fare amount: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1950A-B815-0CEE-4141-C8659825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40" y="3086100"/>
            <a:ext cx="17040225" cy="6067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00DB10-9852-6D6D-701A-0861BDF9126F}"/>
              </a:ext>
            </a:extLst>
          </p:cNvPr>
          <p:cNvSpPr txBox="1"/>
          <p:nvPr/>
        </p:nvSpPr>
        <p:spPr>
          <a:xfrm>
            <a:off x="620840" y="1790700"/>
            <a:ext cx="109947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We notice big change in the hour 5 and 6 </a:t>
            </a:r>
          </a:p>
        </p:txBody>
      </p:sp>
    </p:spTree>
    <p:extLst>
      <p:ext uri="{BB962C8B-B14F-4D97-AF65-F5344CB8AC3E}">
        <p14:creationId xmlns:p14="http://schemas.microsoft.com/office/powerpoint/2010/main" val="237629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B9E3-9317-726E-1B5B-23EC5B24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1FAF02-D90C-95E7-D35B-1C1F38AF2E3A}"/>
              </a:ext>
            </a:extLst>
          </p:cNvPr>
          <p:cNvSpPr txBox="1"/>
          <p:nvPr/>
        </p:nvSpPr>
        <p:spPr>
          <a:xfrm>
            <a:off x="642612" y="495300"/>
            <a:ext cx="85231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Time vs fare amount: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4301C0-72AE-A995-3B1D-68A09C9A0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81756"/>
            <a:ext cx="7878911" cy="5257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C281E7-9E53-3427-E5CC-927FB108E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3681756"/>
            <a:ext cx="6553200" cy="525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771E33-B924-88F0-DB5A-5952C88B7CDD}"/>
              </a:ext>
            </a:extLst>
          </p:cNvPr>
          <p:cNvSpPr txBox="1"/>
          <p:nvPr/>
        </p:nvSpPr>
        <p:spPr>
          <a:xfrm>
            <a:off x="642612" y="1411485"/>
            <a:ext cx="155117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We used median because of the outlier in the fare amount</a:t>
            </a:r>
          </a:p>
        </p:txBody>
      </p:sp>
    </p:spTree>
    <p:extLst>
      <p:ext uri="{BB962C8B-B14F-4D97-AF65-F5344CB8AC3E}">
        <p14:creationId xmlns:p14="http://schemas.microsoft.com/office/powerpoint/2010/main" val="281251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17D43-90F3-BE12-0074-287AD36B8821}"/>
              </a:ext>
            </a:extLst>
          </p:cNvPr>
          <p:cNvSpPr txBox="1"/>
          <p:nvPr/>
        </p:nvSpPr>
        <p:spPr>
          <a:xfrm>
            <a:off x="6172200" y="4543335"/>
            <a:ext cx="533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98" defTabSz="1029432">
              <a:spcBef>
                <a:spcPts val="113"/>
              </a:spcBef>
            </a:pPr>
            <a:r>
              <a:rPr lang="en-US" sz="7200" b="1" kern="0" dirty="0">
                <a:solidFill>
                  <a:schemeClr val="bg1"/>
                </a:solidFill>
                <a:latin typeface="Arial"/>
                <a:cs typeface="Arial"/>
              </a:rPr>
              <a:t>Thank</a:t>
            </a:r>
            <a:r>
              <a:rPr lang="en-US" sz="7200" b="1" kern="0" spc="-7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7200" b="1" kern="0" spc="-68" dirty="0">
                <a:solidFill>
                  <a:schemeClr val="bg1"/>
                </a:solidFill>
                <a:latin typeface="Arial"/>
                <a:cs typeface="Arial"/>
              </a:rPr>
              <a:t>You!</a:t>
            </a:r>
            <a:endParaRPr lang="en-US" sz="7200" kern="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271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748F09825DAF4E906E7A2352099363" ma:contentTypeVersion="4" ma:contentTypeDescription="Create a new document." ma:contentTypeScope="" ma:versionID="23ca97aa85ecd19f71bdf2f759c8130d">
  <xsd:schema xmlns:xsd="http://www.w3.org/2001/XMLSchema" xmlns:xs="http://www.w3.org/2001/XMLSchema" xmlns:p="http://schemas.microsoft.com/office/2006/metadata/properties" xmlns:ns3="7767d22b-175e-43a5-b36d-bf21ebd9d033" targetNamespace="http://schemas.microsoft.com/office/2006/metadata/properties" ma:root="true" ma:fieldsID="8bceb76a290b407537b704fd9ebf8c49" ns3:_="">
    <xsd:import namespace="7767d22b-175e-43a5-b36d-bf21ebd9d03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67d22b-175e-43a5-b36d-bf21ebd9d03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20E276-5E30-4770-A3D9-BC74B9DC058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767d22b-175e-43a5-b36d-bf21ebd9d03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55CA831-7C40-4803-81B8-CED11E17C3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508FD6-1143-426E-8FF0-1676892DFE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67d22b-175e-43a5-b36d-bf21ebd9d0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323</Words>
  <Application>Microsoft Office PowerPoint</Application>
  <PresentationFormat>Custom</PresentationFormat>
  <Paragraphs>63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Arial</vt:lpstr>
      <vt:lpstr>Microsoft Sans Serif</vt:lpstr>
      <vt:lpstr>Aptos</vt:lpstr>
      <vt:lpstr>Office Theme</vt:lpstr>
      <vt:lpstr>3_Office Theme</vt:lpstr>
      <vt:lpstr>EDA on Taxi data Machine Learning Regression Project  </vt:lpstr>
      <vt:lpstr>PowerPoint Presentation</vt:lpstr>
      <vt:lpstr>Data Distribution &amp; features Relation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Dashboard GUI Project (1).pptx</dc:title>
  <dc:creator>Mahmoud Walid</dc:creator>
  <cp:lastModifiedBy>Mohamed Ayman</cp:lastModifiedBy>
  <cp:revision>585</cp:revision>
  <dcterms:created xsi:type="dcterms:W3CDTF">2006-08-16T00:00:00Z</dcterms:created>
  <dcterms:modified xsi:type="dcterms:W3CDTF">2026-02-27T06:51:46Z</dcterms:modified>
  <dc:identifier>DAGrq5cUFqU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0x01010044748F09825DAF4E906E7A2352099363</vt:lpwstr>
  </property>
</Properties>
</file>